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0240288" cy="42840275"/>
  <p:notesSz cx="42840275" cy="30240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46" userDrawn="1">
          <p15:clr>
            <a:srgbClr val="A4A3A4"/>
          </p15:clr>
        </p15:guide>
        <p15:guide id="2" pos="124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672F"/>
    <a:srgbClr val="F8AE24"/>
    <a:srgbClr val="9BCBD8"/>
    <a:srgbClr val="3A4F7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610"/>
  </p:normalViewPr>
  <p:slideViewPr>
    <p:cSldViewPr snapToGrid="0" snapToObjects="1">
      <p:cViewPr varScale="1">
        <p:scale>
          <a:sx n="19" d="100"/>
          <a:sy n="19" d="100"/>
        </p:scale>
        <p:origin x="2304" y="336"/>
      </p:cViewPr>
      <p:guideLst>
        <p:guide orient="horz" pos="24946"/>
        <p:guide pos="124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6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21C8-CD5C-B5DA-EA18-44261DFD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71E71-CAE1-8D37-3A5D-93DEE0041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5C52A-7597-EA98-1752-4B58B801C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A4905-D5DB-4B38-D9ED-DCD88C33C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93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258C-F102-23DC-7830-079714DC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B4CE15D8-5225-CC53-1896-745503809E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329238"/>
            <a:ext cx="30240000" cy="776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 dirty="0"/>
          </a:p>
        </p:txBody>
      </p:sp>
      <p:pic>
        <p:nvPicPr>
          <p:cNvPr id="2" name="Image 0" descr="../img/plantilla-cabezal.png">
            <a:extLst>
              <a:ext uri="{FF2B5EF4-FFF2-40B4-BE49-F238E27FC236}">
                <a16:creationId xmlns:a16="http://schemas.microsoft.com/office/drawing/2014/main" id="{5D543415-549F-DB77-D715-399159835F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" y="0"/>
            <a:ext cx="30240000" cy="6300000"/>
          </a:xfrm>
          <a:prstGeom prst="rect">
            <a:avLst/>
          </a:prstGeom>
        </p:spPr>
      </p:pic>
      <p:pic>
        <p:nvPicPr>
          <p:cNvPr id="3" name="Image 1" descr="../img/plantilla-pie.png">
            <a:extLst>
              <a:ext uri="{FF2B5EF4-FFF2-40B4-BE49-F238E27FC236}">
                <a16:creationId xmlns:a16="http://schemas.microsoft.com/office/drawing/2014/main" id="{7BC5293F-D6F7-8936-8C48-FC938C7753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068000"/>
            <a:ext cx="30240000" cy="27720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CB74FF2-EEF5-DB63-E328-F13723FCE7DC}"/>
              </a:ext>
            </a:extLst>
          </p:cNvPr>
          <p:cNvSpPr txBox="1"/>
          <p:nvPr/>
        </p:nvSpPr>
        <p:spPr>
          <a:xfrm>
            <a:off x="1437428" y="5445994"/>
            <a:ext cx="26732827" cy="12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8800" b="1" kern="0" spc="-100" dirty="0">
                <a:solidFill>
                  <a:srgbClr val="222222"/>
                </a:solidFill>
                <a:latin typeface="PT Sans" panose="020B0503020203020204" pitchFamily="34" charset="77"/>
                <a:ea typeface="Cambria" pitchFamily="34" charset="-122"/>
                <a:cs typeface="Cambria" pitchFamily="34" charset="-120"/>
              </a:rPr>
              <a:t>¿Y si </a:t>
            </a:r>
            <a:r>
              <a:rPr lang="es-ES_tradnl" sz="8800" b="1" kern="0" spc="-100" noProof="0" dirty="0">
                <a:solidFill>
                  <a:srgbClr val="222222"/>
                </a:solidFill>
                <a:latin typeface="PT Sans" panose="020B0503020203020204" pitchFamily="34" charset="77"/>
                <a:ea typeface="Cambria" pitchFamily="34" charset="-122"/>
                <a:cs typeface="Cambria" pitchFamily="34" charset="-120"/>
              </a:rPr>
              <a:t>miramos</a:t>
            </a:r>
            <a:r>
              <a:rPr lang="es-ES_tradnl" sz="8800" b="1" kern="0" spc="-100" dirty="0">
                <a:solidFill>
                  <a:srgbClr val="222222"/>
                </a:solidFill>
                <a:latin typeface="PT Sans" panose="020B0503020203020204" pitchFamily="34" charset="77"/>
                <a:ea typeface="Cambria" pitchFamily="34" charset="-122"/>
                <a:cs typeface="Cambria" pitchFamily="34" charset="-120"/>
              </a:rPr>
              <a:t> por otro lado?</a:t>
            </a:r>
            <a:endParaRPr lang="es-ES_tradnl" sz="8800" dirty="0">
              <a:latin typeface="PT Sans" panose="020B0503020203020204" pitchFamily="34" charset="77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C428E5A-C626-633E-6FE6-4D90D71EC949}"/>
              </a:ext>
            </a:extLst>
          </p:cNvPr>
          <p:cNvSpPr txBox="1"/>
          <p:nvPr/>
        </p:nvSpPr>
        <p:spPr>
          <a:xfrm>
            <a:off x="1437428" y="6969600"/>
            <a:ext cx="22471121" cy="154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5500" dirty="0">
                <a:solidFill>
                  <a:srgbClr val="414A4F"/>
                </a:solidFill>
                <a:latin typeface="PT Sans" panose="020B0503020203020204" pitchFamily="34" charset="77"/>
                <a:ea typeface="Cambria" pitchFamily="34" charset="-122"/>
                <a:cs typeface="Cambria" pitchFamily="34" charset="-120"/>
              </a:rPr>
              <a:t>Búsqueda de proyecciones para revelar estructuras de grupos en datos multivariados y construir árboles de decisión.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3A05220-00A2-6E29-0581-BB896D581392}"/>
              </a:ext>
            </a:extLst>
          </p:cNvPr>
          <p:cNvSpPr txBox="1"/>
          <p:nvPr/>
        </p:nvSpPr>
        <p:spPr>
          <a:xfrm>
            <a:off x="1437428" y="8745206"/>
            <a:ext cx="23368628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s-ES_tradnl" sz="5000" i="1" dirty="0">
                <a:latin typeface="PT Sans" panose="020B0503020203020204" pitchFamily="34" charset="77"/>
              </a:rPr>
              <a:t>Andrés Vidal Berriel (Lic. en Estadística); Natalia da Silva (Referente)</a:t>
            </a: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2FBBB7C-E0EE-AA44-BC16-CED09FEF7E4D}"/>
              </a:ext>
            </a:extLst>
          </p:cNvPr>
          <p:cNvSpPr txBox="1"/>
          <p:nvPr/>
        </p:nvSpPr>
        <p:spPr>
          <a:xfrm>
            <a:off x="1436400" y="20466170"/>
            <a:ext cx="8496001" cy="53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3200" b="1" kern="0" spc="200" dirty="0">
                <a:solidFill>
                  <a:srgbClr val="E8662E"/>
                </a:solidFill>
                <a:latin typeface="PT Sans" panose="020B0503020203020204" pitchFamily="34" charset="77"/>
                <a:ea typeface="Consolas" pitchFamily="34" charset="-122"/>
                <a:cs typeface="Consolas" pitchFamily="34" charset="-120"/>
              </a:rPr>
              <a:t>1 · BUSCAR Y PROYECTAR</a:t>
            </a:r>
            <a:endParaRPr lang="es-ES_tradnl" sz="3200" dirty="0">
              <a:latin typeface="PT Sans" panose="020B0503020203020204" pitchFamily="34" charset="77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DB97BCF1-41F3-25CC-C331-DD4C1ED98CF1}"/>
              </a:ext>
            </a:extLst>
          </p:cNvPr>
          <p:cNvSpPr txBox="1"/>
          <p:nvPr/>
        </p:nvSpPr>
        <p:spPr>
          <a:xfrm>
            <a:off x="1437427" y="21006170"/>
            <a:ext cx="8658000" cy="90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950" b="1" dirty="0">
                <a:solidFill>
                  <a:srgbClr val="222222"/>
                </a:solidFill>
                <a:latin typeface="PT Sans" panose="020B0503020203020204" pitchFamily="34" charset="77"/>
              </a:rPr>
              <a:t>Medir y elegir direcciones</a:t>
            </a:r>
            <a:endParaRPr lang="es-ES_tradnl" sz="4950" dirty="0">
              <a:latin typeface="PT Sans" panose="020B0503020203020204" pitchFamily="34" charset="77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49D17404-1352-3C60-763B-1046E5FC0E01}"/>
              </a:ext>
            </a:extLst>
          </p:cNvPr>
          <p:cNvSpPr txBox="1"/>
          <p:nvPr/>
        </p:nvSpPr>
        <p:spPr>
          <a:xfrm>
            <a:off x="1436400" y="21883243"/>
            <a:ext cx="8658000" cy="5335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Un </a:t>
            </a:r>
            <a:r>
              <a:rPr lang="en-UY" sz="4250" b="1" dirty="0">
                <a:latin typeface="PT Sans" panose="020B0503020203020204" pitchFamily="34" charset="77"/>
              </a:rPr>
              <a:t>índice</a:t>
            </a:r>
            <a:r>
              <a:rPr lang="en-UY" sz="4250" dirty="0">
                <a:latin typeface="PT Sans" panose="020B0503020203020204" pitchFamily="34" charset="77"/>
              </a:rPr>
              <a:t> mide cuánto separa cada dirección: compara la </a:t>
            </a:r>
            <a:r>
              <a:rPr lang="en-UY" sz="4250" b="1" dirty="0">
                <a:latin typeface="PT Sans" panose="020B0503020203020204" pitchFamily="34" charset="77"/>
              </a:rPr>
              <a:t>variabilidad</a:t>
            </a:r>
            <a:r>
              <a:rPr lang="en-UY" sz="4250" dirty="0">
                <a:latin typeface="PT Sans" panose="020B0503020203020204" pitchFamily="34" charset="77"/>
              </a:rPr>
              <a:t> </a:t>
            </a:r>
            <a:r>
              <a:rPr lang="en-UY" sz="4250" b="1" dirty="0">
                <a:latin typeface="PT Sans" panose="020B0503020203020204" pitchFamily="34" charset="77"/>
              </a:rPr>
              <a:t>entre los grupos </a:t>
            </a:r>
            <a:r>
              <a:rPr lang="en-UY" sz="4250" dirty="0">
                <a:latin typeface="PT Sans" panose="020B0503020203020204" pitchFamily="34" charset="77"/>
              </a:rPr>
              <a:t>con la </a:t>
            </a:r>
            <a:r>
              <a:rPr lang="en-UY" sz="4250" b="1" dirty="0">
                <a:latin typeface="PT Sans" panose="020B0503020203020204" pitchFamily="34" charset="77"/>
              </a:rPr>
              <a:t>total</a:t>
            </a:r>
            <a:r>
              <a:rPr lang="en-UY" sz="4250" dirty="0">
                <a:latin typeface="PT Sans" panose="020B0503020203020204" pitchFamily="34" charset="77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Con esa medida se puede hacer una </a:t>
            </a:r>
            <a:r>
              <a:rPr lang="en-UY" sz="4250" b="1" dirty="0">
                <a:latin typeface="PT Sans" panose="020B0503020203020204" pitchFamily="34" charset="77"/>
              </a:rPr>
              <a:t>búsqueda guiada.</a:t>
            </a:r>
          </a:p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Proyectar es esto: la sombra de cada cangrejo sobre una recta.</a:t>
            </a:r>
          </a:p>
          <a:p>
            <a:pPr algn="just">
              <a:spcAft>
                <a:spcPts val="1200"/>
              </a:spcAft>
            </a:pPr>
            <a:endParaRPr lang="en-UY" sz="4250" dirty="0">
              <a:latin typeface="PT Sans" panose="020B0503020203020204" pitchFamily="34" charset="77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AE319325-A7C8-4970-4E33-CF60B47E043B}"/>
              </a:ext>
            </a:extLst>
          </p:cNvPr>
          <p:cNvSpPr txBox="1"/>
          <p:nvPr/>
        </p:nvSpPr>
        <p:spPr>
          <a:xfrm>
            <a:off x="10861200" y="21006170"/>
            <a:ext cx="8658000" cy="90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4950" b="1" dirty="0">
                <a:solidFill>
                  <a:srgbClr val="222222"/>
                </a:solidFill>
                <a:latin typeface="PT Sans" panose="020B0503020203020204" pitchFamily="34" charset="77"/>
              </a:rPr>
              <a:t>Elegir un punto de corte</a:t>
            </a: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5A3465CE-B416-C760-B36C-42FABAB98CF1}"/>
              </a:ext>
            </a:extLst>
          </p:cNvPr>
          <p:cNvSpPr txBox="1"/>
          <p:nvPr/>
        </p:nvSpPr>
        <p:spPr>
          <a:xfrm>
            <a:off x="10861200" y="21883244"/>
            <a:ext cx="8658000" cy="533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Proyectados, los cangrejos quedan ordenados sobre una recta y un </a:t>
            </a:r>
            <a:r>
              <a:rPr lang="en-UY" sz="4250" b="1" dirty="0">
                <a:latin typeface="PT Sans" panose="020B0503020203020204" pitchFamily="34" charset="77"/>
              </a:rPr>
              <a:t>corte la divide en dos partes.</a:t>
            </a:r>
          </a:p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El resultado es una regla que no usa una variable sino una </a:t>
            </a:r>
            <a:r>
              <a:rPr lang="en-UY" sz="4250" b="1" dirty="0">
                <a:latin typeface="PT Sans" panose="020B0503020203020204" pitchFamily="34" charset="77"/>
              </a:rPr>
              <a:t>combinación</a:t>
            </a:r>
            <a:r>
              <a:rPr lang="en-UY" sz="4250" dirty="0">
                <a:latin typeface="PT Sans" panose="020B0503020203020204" pitchFamily="34" charset="77"/>
              </a:rPr>
              <a:t> de varias.</a:t>
            </a: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7FF2DB21-7475-15AF-74AF-E663B3BE0819}"/>
              </a:ext>
            </a:extLst>
          </p:cNvPr>
          <p:cNvSpPr txBox="1"/>
          <p:nvPr/>
        </p:nvSpPr>
        <p:spPr>
          <a:xfrm>
            <a:off x="20311200" y="21006170"/>
            <a:ext cx="8658000" cy="90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s-ES_tradnl" sz="4950" b="1" dirty="0">
                <a:solidFill>
                  <a:srgbClr val="222222"/>
                </a:solidFill>
                <a:latin typeface="PT Sans" panose="020B0503020203020204" pitchFamily="34" charset="77"/>
              </a:rPr>
              <a:t>Repetir la búsqueda</a:t>
            </a: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6B7475E6-6EB7-AEDC-6BA2-BEEFD101A061}"/>
              </a:ext>
            </a:extLst>
          </p:cNvPr>
          <p:cNvSpPr txBox="1"/>
          <p:nvPr/>
        </p:nvSpPr>
        <p:spPr>
          <a:xfrm>
            <a:off x="20311200" y="21883244"/>
            <a:ext cx="8658000" cy="533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Dentro de cada parte se repite la búsqueda y el corte. Así armamos un </a:t>
            </a:r>
            <a:r>
              <a:rPr lang="en-UY" sz="4250" b="1" dirty="0">
                <a:latin typeface="PT Sans" panose="020B0503020203020204" pitchFamily="34" charset="77"/>
              </a:rPr>
              <a:t>árbol de decisión</a:t>
            </a:r>
            <a:r>
              <a:rPr lang="en-UY" sz="4250" dirty="0">
                <a:latin typeface="PT Sans" panose="020B0503020203020204" pitchFamily="34" charset="77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Se lo llama </a:t>
            </a:r>
            <a:r>
              <a:rPr lang="en-UY" sz="4250" b="1" dirty="0">
                <a:latin typeface="PT Sans" panose="020B0503020203020204" pitchFamily="34" charset="77"/>
              </a:rPr>
              <a:t>oblicuo, </a:t>
            </a:r>
            <a:r>
              <a:rPr lang="en-UY" sz="4250" dirty="0">
                <a:latin typeface="PT Sans" panose="020B0503020203020204" pitchFamily="34" charset="77"/>
              </a:rPr>
              <a:t>porque sus cortes no tienen que ser paralelos a los ejes originales: </a:t>
            </a:r>
            <a:r>
              <a:rPr lang="en-UY" sz="4250" b="1" dirty="0">
                <a:latin typeface="PT Sans" panose="020B0503020203020204" pitchFamily="34" charset="77"/>
              </a:rPr>
              <a:t>pueden combinar varias variables</a:t>
            </a:r>
            <a:r>
              <a:rPr lang="en-UY" sz="4250" dirty="0">
                <a:latin typeface="PT Sans" panose="020B0503020203020204" pitchFamily="34" charset="77"/>
              </a:rPr>
              <a:t>, </a:t>
            </a:r>
            <a:r>
              <a:rPr lang="en-UY" sz="4250" b="1" dirty="0">
                <a:latin typeface="PT Sans" panose="020B0503020203020204" pitchFamily="34" charset="77"/>
              </a:rPr>
              <a:t>generando cortes diagonales.</a:t>
            </a:r>
          </a:p>
          <a:p>
            <a:pPr algn="just">
              <a:spcAft>
                <a:spcPts val="1200"/>
              </a:spcAft>
            </a:pPr>
            <a:endParaRPr lang="en-UY" sz="4400" dirty="0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A47E6FE6-8BAE-4223-8F63-F689A05F5C31}"/>
              </a:ext>
            </a:extLst>
          </p:cNvPr>
          <p:cNvSpPr txBox="1"/>
          <p:nvPr/>
        </p:nvSpPr>
        <p:spPr>
          <a:xfrm>
            <a:off x="1436400" y="33355370"/>
            <a:ext cx="8658000" cy="6384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2000"/>
              </a:lnSpc>
              <a:spcAft>
                <a:spcPts val="1200"/>
              </a:spcAft>
            </a:pPr>
            <a:r>
              <a:rPr lang="es-ES_tradnl" sz="4250" dirty="0">
                <a:latin typeface="PT Sans" panose="020B0503020203020204" pitchFamily="34" charset="77"/>
              </a:rPr>
              <a:t>Este algoritmo está implementado en </a:t>
            </a:r>
            <a:r>
              <a:rPr lang="es-ES_tradnl" sz="4250" b="1" dirty="0">
                <a:solidFill>
                  <a:srgbClr val="E9672F"/>
                </a:solidFill>
                <a:latin typeface="PT Sans" panose="020B0503020203020204" pitchFamily="34" charset="77"/>
              </a:rPr>
              <a:t>ppforest2</a:t>
            </a:r>
            <a:r>
              <a:rPr lang="es-ES_tradnl" sz="4250" dirty="0">
                <a:latin typeface="PT Sans" panose="020B0503020203020204" pitchFamily="34" charset="77"/>
              </a:rPr>
              <a:t>, </a:t>
            </a:r>
            <a:r>
              <a:rPr lang="es-ES_tradnl" sz="4250" b="1" dirty="0">
                <a:latin typeface="PT Sans" panose="020B0503020203020204" pitchFamily="34" charset="77"/>
              </a:rPr>
              <a:t>sucesor del paquete PPforest</a:t>
            </a:r>
            <a:r>
              <a:rPr lang="es-ES_tradnl" sz="4250" dirty="0">
                <a:latin typeface="PT Sans" panose="020B0503020203020204" pitchFamily="34" charset="77"/>
              </a:rPr>
              <a:t>;</a:t>
            </a:r>
            <a:r>
              <a:rPr lang="es-ES_tradnl" sz="4250" b="1" dirty="0">
                <a:latin typeface="PT Sans" panose="020B0503020203020204" pitchFamily="34" charset="77"/>
              </a:rPr>
              <a:t> </a:t>
            </a:r>
            <a:r>
              <a:rPr lang="es-ES_tradnl" sz="4250" dirty="0">
                <a:latin typeface="PT Sans" panose="020B0503020203020204" pitchFamily="34" charset="77"/>
              </a:rPr>
              <a:t>ambos</a:t>
            </a:r>
            <a:r>
              <a:rPr lang="es-ES_tradnl" sz="4250" b="1" dirty="0">
                <a:latin typeface="PT Sans" panose="020B0503020203020204" pitchFamily="34" charset="77"/>
              </a:rPr>
              <a:t> </a:t>
            </a:r>
            <a:r>
              <a:rPr lang="es-ES_tradnl" sz="4250" dirty="0">
                <a:latin typeface="PT Sans" panose="020B0503020203020204" pitchFamily="34" charset="77"/>
              </a:rPr>
              <a:t>desarrollados en la FCEA. Un paquete de R con núcleo en C++ y paralelización que </a:t>
            </a:r>
            <a:r>
              <a:rPr lang="es-ES_tradnl" sz="4250" b="1" dirty="0">
                <a:latin typeface="PT Sans" panose="020B0503020203020204" pitchFamily="34" charset="77"/>
              </a:rPr>
              <a:t>corre en una fracción de segundo lo que antes tardaba una hora.</a:t>
            </a:r>
          </a:p>
          <a:p>
            <a:pPr algn="just">
              <a:lnSpc>
                <a:spcPct val="112000"/>
              </a:lnSpc>
              <a:spcAft>
                <a:spcPts val="1200"/>
              </a:spcAft>
            </a:pPr>
            <a:r>
              <a:rPr lang="es-ES_tradnl" sz="3200" i="1" dirty="0">
                <a:latin typeface="PT Sans" panose="020B0503020203020204" pitchFamily="34" charset="77"/>
              </a:rPr>
              <a:t>Disponible en </a:t>
            </a:r>
            <a:r>
              <a:rPr lang="es-ES_tradnl" sz="3200" b="1" i="1" dirty="0">
                <a:latin typeface="PT Sans" panose="020B0503020203020204" pitchFamily="34" charset="77"/>
              </a:rPr>
              <a:t>CRAN</a:t>
            </a:r>
            <a:r>
              <a:rPr lang="es-ES_tradnl" sz="3200" i="1" dirty="0">
                <a:latin typeface="PT Sans" panose="020B0503020203020204" pitchFamily="34" charset="77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1200"/>
              </a:spcAft>
            </a:pPr>
            <a:r>
              <a:rPr lang="es-ES_tradnl" sz="3200" i="1" dirty="0">
                <a:latin typeface="PT Sans" panose="020B0503020203020204" pitchFamily="34" charset="77"/>
              </a:rPr>
              <a:t>Compatible con </a:t>
            </a:r>
            <a:r>
              <a:rPr lang="es-ES_tradnl" sz="3200" b="1" i="1" dirty="0">
                <a:latin typeface="PT Sans" panose="020B0503020203020204" pitchFamily="34" charset="77"/>
              </a:rPr>
              <a:t>parsnip/tidymodels</a:t>
            </a:r>
            <a:r>
              <a:rPr lang="es-ES_tradnl" sz="3200" i="1" dirty="0">
                <a:latin typeface="PT Sans" panose="020B0503020203020204" pitchFamily="34" charset="77"/>
              </a:rPr>
              <a:t>.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C7A4388-B7A7-EFEA-A79D-BC4A91AF74FE}"/>
              </a:ext>
            </a:extLst>
          </p:cNvPr>
          <p:cNvSpPr txBox="1"/>
          <p:nvPr/>
        </p:nvSpPr>
        <p:spPr>
          <a:xfrm>
            <a:off x="1437430" y="9926508"/>
            <a:ext cx="8658000" cy="996801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algn="just">
              <a:spcAft>
                <a:spcPts val="1200"/>
              </a:spcAft>
            </a:pPr>
            <a:r>
              <a:rPr lang="en-UY" sz="4250" b="1" dirty="0">
                <a:latin typeface="PT Sans" panose="020B0503020203020204" pitchFamily="34" charset="77"/>
              </a:rPr>
              <a:t>Cuando hay más de dos variables, no podemos verlas todas a la vez en un gráfico bidimensional. Elegir dos para graficar es apenas </a:t>
            </a:r>
            <a:r>
              <a:rPr lang="en-UY" sz="4250" b="1" i="1" dirty="0">
                <a:latin typeface="PT Sans" panose="020B0503020203020204" pitchFamily="34" charset="77"/>
              </a:rPr>
              <a:t>una proyección entre muchas</a:t>
            </a:r>
            <a:r>
              <a:rPr lang="en-UY" sz="4250" b="1" dirty="0">
                <a:latin typeface="PT Sans" panose="020B0503020203020204" pitchFamily="34" charset="77"/>
              </a:rPr>
              <a:t>.</a:t>
            </a:r>
            <a:endParaRPr lang="en-UY" sz="4250" dirty="0">
              <a:latin typeface="PT Sans" panose="020B0503020203020204" pitchFamily="34" charset="77"/>
            </a:endParaRPr>
          </a:p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Estos 200 cangrejos se clasifican en cuatro grupos descritos por cinco medidas del caparazón. Debido a su alta correlación, las vistas habituales los superponen. A la derecha, los mismos datos sobre una proyección en la que la separación entre grupos es evidente. </a:t>
            </a:r>
          </a:p>
          <a:p>
            <a:pPr algn="just">
              <a:spcAft>
                <a:spcPts val="1200"/>
              </a:spcAft>
            </a:pPr>
            <a:r>
              <a:rPr lang="en-UY" sz="4250" b="1" i="1" dirty="0">
                <a:latin typeface="PT Sans" panose="020B0503020203020204" pitchFamily="34" charset="77"/>
              </a:rPr>
              <a:t>Nos interesa generar un modelo de clasificación para estos datos.</a:t>
            </a: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07ED1120-6596-E4ED-4FB5-DAF1FB549931}"/>
              </a:ext>
            </a:extLst>
          </p:cNvPr>
          <p:cNvSpPr txBox="1"/>
          <p:nvPr/>
        </p:nvSpPr>
        <p:spPr>
          <a:xfrm>
            <a:off x="10861200" y="20495564"/>
            <a:ext cx="8658000" cy="479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3200" b="1" kern="0" spc="200" dirty="0">
                <a:solidFill>
                  <a:srgbClr val="E8662E"/>
                </a:solidFill>
                <a:latin typeface="PT Sans" panose="020B0503020203020204" pitchFamily="34" charset="77"/>
                <a:ea typeface="Consolas" pitchFamily="34" charset="-122"/>
                <a:cs typeface="Consolas" pitchFamily="34" charset="-120"/>
              </a:rPr>
              <a:t>2 · ARMAR LA REGLA DE DECISIÓN</a:t>
            </a:r>
            <a:endParaRPr lang="es-ES_tradnl" sz="3200" dirty="0">
              <a:latin typeface="PT Sans" panose="020B0503020203020204" pitchFamily="34" charset="77"/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765FF65A-32BE-CC87-DD60-9E8CD7F9B727}"/>
              </a:ext>
            </a:extLst>
          </p:cNvPr>
          <p:cNvSpPr txBox="1"/>
          <p:nvPr/>
        </p:nvSpPr>
        <p:spPr>
          <a:xfrm>
            <a:off x="20311200" y="20466170"/>
            <a:ext cx="8658000" cy="479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3200" b="1" kern="0" spc="200" dirty="0">
                <a:solidFill>
                  <a:srgbClr val="E8662E"/>
                </a:solidFill>
                <a:latin typeface="PT Sans" panose="020B0503020203020204" pitchFamily="34" charset="77"/>
                <a:ea typeface="Consolas" pitchFamily="34" charset="-122"/>
                <a:cs typeface="Consolas" pitchFamily="34" charset="-120"/>
              </a:rPr>
              <a:t>3 · CONSTRUIR UN ÁRBOL</a:t>
            </a:r>
            <a:endParaRPr lang="es-ES_tradnl" sz="3200" dirty="0">
              <a:latin typeface="PT Sans" panose="020B0503020203020204" pitchFamily="34" charset="77"/>
            </a:endParaRPr>
          </a:p>
        </p:txBody>
      </p:sp>
      <p:sp>
        <p:nvSpPr>
          <p:cNvPr id="83" name="Text 13">
            <a:extLst>
              <a:ext uri="{FF2B5EF4-FFF2-40B4-BE49-F238E27FC236}">
                <a16:creationId xmlns:a16="http://schemas.microsoft.com/office/drawing/2014/main" id="{7724D26C-24E2-3FCF-B201-B83F69FE9DD5}"/>
              </a:ext>
            </a:extLst>
          </p:cNvPr>
          <p:cNvSpPr txBox="1"/>
          <p:nvPr/>
        </p:nvSpPr>
        <p:spPr>
          <a:xfrm>
            <a:off x="1436400" y="32451770"/>
            <a:ext cx="8658000" cy="90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950" b="1" dirty="0">
                <a:solidFill>
                  <a:srgbClr val="222222"/>
                </a:solidFill>
                <a:latin typeface="PT Sans" panose="020B0503020203020204" pitchFamily="34" charset="77"/>
              </a:rPr>
              <a:t>Automatizando el proceso</a:t>
            </a:r>
            <a:endParaRPr lang="es-ES_tradnl" sz="4950" dirty="0">
              <a:latin typeface="PT Sans" panose="020B0503020203020204" pitchFamily="34" charset="77"/>
            </a:endParaRPr>
          </a:p>
        </p:txBody>
      </p:sp>
      <p:sp>
        <p:nvSpPr>
          <p:cNvPr id="89" name="Text 13">
            <a:extLst>
              <a:ext uri="{FF2B5EF4-FFF2-40B4-BE49-F238E27FC236}">
                <a16:creationId xmlns:a16="http://schemas.microsoft.com/office/drawing/2014/main" id="{C3869EED-B17D-F035-32FC-E2C58ED70E5F}"/>
              </a:ext>
            </a:extLst>
          </p:cNvPr>
          <p:cNvSpPr txBox="1"/>
          <p:nvPr/>
        </p:nvSpPr>
        <p:spPr>
          <a:xfrm>
            <a:off x="10861200" y="32453314"/>
            <a:ext cx="8496001" cy="90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4950" b="1" dirty="0">
                <a:solidFill>
                  <a:srgbClr val="222222"/>
                </a:solidFill>
                <a:latin typeface="PT Sans" panose="020B0503020203020204" pitchFamily="34" charset="77"/>
              </a:rPr>
              <a:t>Oblicuos contra axiales</a:t>
            </a:r>
            <a:endParaRPr lang="es-ES_tradnl" sz="4950" dirty="0">
              <a:latin typeface="PT Sans" panose="020B0503020203020204" pitchFamily="34" charset="77"/>
            </a:endParaRPr>
          </a:p>
        </p:txBody>
      </p:sp>
      <p:sp>
        <p:nvSpPr>
          <p:cNvPr id="91" name="Text 24">
            <a:extLst>
              <a:ext uri="{FF2B5EF4-FFF2-40B4-BE49-F238E27FC236}">
                <a16:creationId xmlns:a16="http://schemas.microsoft.com/office/drawing/2014/main" id="{316C05CF-1EF6-C248-2F0A-B2EE2E49AFA6}"/>
              </a:ext>
            </a:extLst>
          </p:cNvPr>
          <p:cNvSpPr txBox="1"/>
          <p:nvPr/>
        </p:nvSpPr>
        <p:spPr>
          <a:xfrm>
            <a:off x="10861200" y="33356914"/>
            <a:ext cx="8658000" cy="1947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Los árboles axiales deben </a:t>
            </a:r>
            <a:r>
              <a:rPr lang="en-UY" sz="4250" b="1" dirty="0">
                <a:latin typeface="PT Sans" panose="020B0503020203020204" pitchFamily="34" charset="77"/>
              </a:rPr>
              <a:t>aproximar un corte diagonal con una escalera </a:t>
            </a:r>
            <a:r>
              <a:rPr lang="en-UY" sz="4250" dirty="0">
                <a:latin typeface="PT Sans" panose="020B0503020203020204" pitchFamily="34" charset="77"/>
              </a:rPr>
              <a:t>que requiere dos cortes por escalón.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C10915-A34A-2BCA-305B-7E0967D98E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61200" y="35329113"/>
            <a:ext cx="8658000" cy="46271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005F92-BF2C-CD3A-5AD5-F88EB9BAD3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1200" y="9926508"/>
            <a:ext cx="8658000" cy="8658000"/>
          </a:xfrm>
          <a:prstGeom prst="rect">
            <a:avLst/>
          </a:prstGeom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950E88-1E15-640B-8E69-B15DD0805D6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0311200" y="9926508"/>
            <a:ext cx="8658000" cy="8658000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FC01AB4-1A6A-62E2-8948-C12B5645E8F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436400" y="27220028"/>
            <a:ext cx="8658000" cy="46271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C0A221D-FA4D-830B-D517-478C42B5917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861200" y="27220028"/>
            <a:ext cx="8658000" cy="4627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3E8103-7F41-03F6-1E9D-732B5C7BFE70}"/>
              </a:ext>
            </a:extLst>
          </p:cNvPr>
          <p:cNvPicPr>
            <a:picLocks/>
          </p:cNvPicPr>
          <p:nvPr/>
        </p:nvPicPr>
        <p:blipFill>
          <a:blip r:embed="rId10"/>
          <a:srcRect/>
          <a:stretch/>
        </p:blipFill>
        <p:spPr>
          <a:xfrm>
            <a:off x="20311200" y="27220028"/>
            <a:ext cx="8658000" cy="4536000"/>
          </a:xfrm>
          <a:prstGeom prst="rect">
            <a:avLst/>
          </a:prstGeom>
        </p:spPr>
      </p:pic>
      <p:pic>
        <p:nvPicPr>
          <p:cNvPr id="82" name="Image 7" descr="../img/logo-ppforest2.png">
            <a:extLst>
              <a:ext uri="{FF2B5EF4-FFF2-40B4-BE49-F238E27FC236}">
                <a16:creationId xmlns:a16="http://schemas.microsoft.com/office/drawing/2014/main" id="{85E46868-EDAD-1D45-451D-EE273BE188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65618" y="5538831"/>
            <a:ext cx="3727788" cy="4286956"/>
          </a:xfrm>
          <a:prstGeom prst="rect">
            <a:avLst/>
          </a:prstGeom>
        </p:spPr>
      </p:pic>
      <p:sp>
        <p:nvSpPr>
          <p:cNvPr id="39" name="Text 24">
            <a:extLst>
              <a:ext uri="{FF2B5EF4-FFF2-40B4-BE49-F238E27FC236}">
                <a16:creationId xmlns:a16="http://schemas.microsoft.com/office/drawing/2014/main" id="{DD660CF6-68C1-A398-F221-41030981ABD2}"/>
              </a:ext>
            </a:extLst>
          </p:cNvPr>
          <p:cNvSpPr txBox="1"/>
          <p:nvPr/>
        </p:nvSpPr>
        <p:spPr>
          <a:xfrm>
            <a:off x="20311200" y="33356914"/>
            <a:ext cx="8658000" cy="3216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1200"/>
              </a:spcAft>
            </a:pPr>
            <a:r>
              <a:rPr lang="en-UY" sz="4250" dirty="0">
                <a:latin typeface="PT Sans" panose="020B0503020203020204" pitchFamily="34" charset="77"/>
              </a:rPr>
              <a:t>Ya los oblicuos pueden </a:t>
            </a:r>
            <a:r>
              <a:rPr lang="en-UY" sz="4250" b="1" dirty="0">
                <a:latin typeface="PT Sans" panose="020B0503020203020204" pitchFamily="34" charset="77"/>
              </a:rPr>
              <a:t>expresar cortes de este tipo con una única decisión. </a:t>
            </a:r>
            <a:r>
              <a:rPr lang="en-UY" sz="4250" dirty="0">
                <a:latin typeface="PT Sans" panose="020B0503020203020204" pitchFamily="34" charset="77"/>
              </a:rPr>
              <a:t>Esto resulta en árboles menos profundos y fáciles de evaluar.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135EB51-A0F8-2115-62D5-1BEF52E55F6D}"/>
              </a:ext>
            </a:extLst>
          </p:cNvPr>
          <p:cNvSpPr/>
          <p:nvPr/>
        </p:nvSpPr>
        <p:spPr>
          <a:xfrm>
            <a:off x="20311200" y="36885673"/>
            <a:ext cx="8658000" cy="2995182"/>
          </a:xfrm>
          <a:prstGeom prst="roundRect">
            <a:avLst>
              <a:gd name="adj" fmla="val 7312"/>
            </a:avLst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Y" dirty="0"/>
              <a:t>56,42</a:t>
            </a: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8C0F5D19-325B-FFAC-E1E0-73C50FE927D8}"/>
              </a:ext>
            </a:extLst>
          </p:cNvPr>
          <p:cNvSpPr txBox="1"/>
          <p:nvPr/>
        </p:nvSpPr>
        <p:spPr>
          <a:xfrm>
            <a:off x="20722387" y="37211614"/>
            <a:ext cx="5175225" cy="2311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Y" sz="4400" dirty="0">
                <a:latin typeface="PT Sans" panose="020B0503020203020204" pitchFamily="34" charset="77"/>
              </a:rPr>
              <a:t>Escaneá el QR</a:t>
            </a:r>
          </a:p>
          <a:p>
            <a:r>
              <a:rPr lang="en-UY" sz="4400" dirty="0">
                <a:latin typeface="PT Sans" panose="020B0503020203020204" pitchFamily="34" charset="77"/>
              </a:rPr>
              <a:t>para acceder</a:t>
            </a:r>
          </a:p>
          <a:p>
            <a:r>
              <a:rPr lang="en-UY" sz="4400" dirty="0">
                <a:latin typeface="PT Sans" panose="020B0503020203020204" pitchFamily="34" charset="77"/>
              </a:rPr>
              <a:t>a la </a:t>
            </a:r>
            <a:r>
              <a:rPr lang="en-UY" sz="4400" b="1" dirty="0">
                <a:latin typeface="PT Sans" panose="020B0503020203020204" pitchFamily="34" charset="77"/>
              </a:rPr>
              <a:t>app del trabajo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586A8777-A2C9-F9E2-2882-0F53401F07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73406" y="37107314"/>
            <a:ext cx="2520000" cy="25200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5612355C-F444-79B1-9800-FE17501D7A34}"/>
              </a:ext>
            </a:extLst>
          </p:cNvPr>
          <p:cNvSpPr/>
          <p:nvPr/>
        </p:nvSpPr>
        <p:spPr>
          <a:xfrm>
            <a:off x="29800672" y="36107641"/>
            <a:ext cx="439616" cy="6780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Y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55C5924-4E0A-D0A1-89BB-CBE873F39266}"/>
              </a:ext>
            </a:extLst>
          </p:cNvPr>
          <p:cNvGrpSpPr/>
          <p:nvPr/>
        </p:nvGrpSpPr>
        <p:grpSpPr>
          <a:xfrm>
            <a:off x="13025367" y="19124141"/>
            <a:ext cx="12987666" cy="584777"/>
            <a:chOff x="14129587" y="19881329"/>
            <a:chExt cx="12987666" cy="584777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D05919D-6D0B-1E32-5B99-2A7A68FE15F8}"/>
                </a:ext>
              </a:extLst>
            </p:cNvPr>
            <p:cNvGrpSpPr/>
            <p:nvPr/>
          </p:nvGrpSpPr>
          <p:grpSpPr>
            <a:xfrm>
              <a:off x="14129587" y="19881331"/>
              <a:ext cx="2820469" cy="584775"/>
              <a:chOff x="14043379" y="19883869"/>
              <a:chExt cx="2820469" cy="584775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1332FBA4-7127-97AE-E3E6-B263A42C8D6D}"/>
                  </a:ext>
                </a:extLst>
              </p:cNvPr>
              <p:cNvSpPr/>
              <p:nvPr/>
            </p:nvSpPr>
            <p:spPr>
              <a:xfrm>
                <a:off x="14043379" y="20050131"/>
                <a:ext cx="252249" cy="252249"/>
              </a:xfrm>
              <a:prstGeom prst="ellipse">
                <a:avLst/>
              </a:prstGeom>
              <a:solidFill>
                <a:srgbClr val="9BCBD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Y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2CC29864-7DA8-82CA-979D-3F3B1E1EF007}"/>
                  </a:ext>
                </a:extLst>
              </p:cNvPr>
              <p:cNvSpPr txBox="1"/>
              <p:nvPr/>
            </p:nvSpPr>
            <p:spPr>
              <a:xfrm>
                <a:off x="14423756" y="19883869"/>
                <a:ext cx="24400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Y" sz="3200" dirty="0">
                    <a:latin typeface="PT Sans" panose="020B0503020203020204" pitchFamily="34" charset="77"/>
                  </a:rPr>
                  <a:t>Azul Hembra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CAB8AFF2-169F-A764-10F8-A2D69EF0574F}"/>
                </a:ext>
              </a:extLst>
            </p:cNvPr>
            <p:cNvGrpSpPr/>
            <p:nvPr/>
          </p:nvGrpSpPr>
          <p:grpSpPr>
            <a:xfrm>
              <a:off x="17270124" y="19881331"/>
              <a:ext cx="2594444" cy="584775"/>
              <a:chOff x="14043380" y="20736357"/>
              <a:chExt cx="2594444" cy="584775"/>
            </a:xfrm>
          </p:grpSpPr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B6F896A0-E006-254A-8E6E-EB28A1E566B2}"/>
                  </a:ext>
                </a:extLst>
              </p:cNvPr>
              <p:cNvSpPr/>
              <p:nvPr/>
            </p:nvSpPr>
            <p:spPr>
              <a:xfrm>
                <a:off x="14043380" y="20902619"/>
                <a:ext cx="252249" cy="252249"/>
              </a:xfrm>
              <a:prstGeom prst="ellipse">
                <a:avLst/>
              </a:prstGeom>
              <a:solidFill>
                <a:srgbClr val="3A4F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Y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5BEC4F6-337B-2E50-90B1-25F5123A4222}"/>
                  </a:ext>
                </a:extLst>
              </p:cNvPr>
              <p:cNvSpPr txBox="1"/>
              <p:nvPr/>
            </p:nvSpPr>
            <p:spPr>
              <a:xfrm>
                <a:off x="14423756" y="20736357"/>
                <a:ext cx="221406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Y" sz="3200" dirty="0">
                    <a:latin typeface="PT Sans" panose="020B0503020203020204" pitchFamily="34" charset="77"/>
                  </a:rPr>
                  <a:t>Azul Macho</a:t>
                </a: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9FB9152C-4A5E-86EF-CDDB-19BA7F327259}"/>
                </a:ext>
              </a:extLst>
            </p:cNvPr>
            <p:cNvGrpSpPr/>
            <p:nvPr/>
          </p:nvGrpSpPr>
          <p:grpSpPr>
            <a:xfrm>
              <a:off x="23920150" y="19881329"/>
              <a:ext cx="3197103" cy="584775"/>
              <a:chOff x="14035435" y="21588845"/>
              <a:chExt cx="3197103" cy="584775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D01B164A-0B95-2B09-FD17-FBEE13C9E89D}"/>
                  </a:ext>
                </a:extLst>
              </p:cNvPr>
              <p:cNvSpPr/>
              <p:nvPr/>
            </p:nvSpPr>
            <p:spPr>
              <a:xfrm>
                <a:off x="14035435" y="21755107"/>
                <a:ext cx="252249" cy="252249"/>
              </a:xfrm>
              <a:prstGeom prst="ellipse">
                <a:avLst/>
              </a:prstGeom>
              <a:solidFill>
                <a:srgbClr val="E9672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Y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145473F3-2015-29DE-C459-389F651CB0F1}"/>
                  </a:ext>
                </a:extLst>
              </p:cNvPr>
              <p:cNvSpPr txBox="1"/>
              <p:nvPr/>
            </p:nvSpPr>
            <p:spPr>
              <a:xfrm>
                <a:off x="14423756" y="21588845"/>
                <a:ext cx="280878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Y" sz="3200" dirty="0">
                    <a:latin typeface="PT Sans" panose="020B0503020203020204" pitchFamily="34" charset="77"/>
                  </a:rPr>
                  <a:t>Naranja Macho</a:t>
                </a: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597E6A51-90FF-60D4-2AE7-5A74B299635F}"/>
                </a:ext>
              </a:extLst>
            </p:cNvPr>
            <p:cNvGrpSpPr/>
            <p:nvPr/>
          </p:nvGrpSpPr>
          <p:grpSpPr>
            <a:xfrm>
              <a:off x="20184636" y="19881331"/>
              <a:ext cx="3418687" cy="584775"/>
              <a:chOff x="14043378" y="22436810"/>
              <a:chExt cx="3418687" cy="584775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BC9DF79B-E7DE-BA0E-0DD5-0B67318F3524}"/>
                  </a:ext>
                </a:extLst>
              </p:cNvPr>
              <p:cNvSpPr/>
              <p:nvPr/>
            </p:nvSpPr>
            <p:spPr>
              <a:xfrm>
                <a:off x="14043378" y="22603074"/>
                <a:ext cx="252249" cy="252249"/>
              </a:xfrm>
              <a:prstGeom prst="ellipse">
                <a:avLst/>
              </a:prstGeom>
              <a:solidFill>
                <a:srgbClr val="F8AE2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Y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3215819-D4CA-FE0D-FA6A-8DA2CCB64A6C}"/>
                  </a:ext>
                </a:extLst>
              </p:cNvPr>
              <p:cNvSpPr txBox="1"/>
              <p:nvPr/>
            </p:nvSpPr>
            <p:spPr>
              <a:xfrm>
                <a:off x="14427260" y="22436810"/>
                <a:ext cx="30348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Y" sz="3200" dirty="0">
                    <a:latin typeface="PT Sans" panose="020B0503020203020204" pitchFamily="34" charset="77"/>
                  </a:rPr>
                  <a:t>Naranja Hembra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2094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</TotalTime>
  <Words>400</Words>
  <Application>Microsoft Macintosh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PT Sans</vt:lpstr>
      <vt:lpstr>Office Theme</vt:lpstr>
      <vt:lpstr>PowerPoint Presentation</vt:lpstr>
    </vt:vector>
  </TitlesOfParts>
  <Manager/>
  <Company>FCEA/Udelar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¿Y si miramos por otro lado?</dc:title>
  <dc:subject>XIV Jornadas Académicas</dc:subject>
  <dc:creator>Andrés Vidal Berriel</dc:creator>
  <cp:keywords/>
  <dc:description/>
  <cp:lastModifiedBy>Andrés Vidal Berriel</cp:lastModifiedBy>
  <cp:revision>41</cp:revision>
  <dcterms:created xsi:type="dcterms:W3CDTF">2026-08-30T01:36:09Z</dcterms:created>
  <dcterms:modified xsi:type="dcterms:W3CDTF">2026-09-03T14:25:24Z</dcterms:modified>
  <cp:category/>
</cp:coreProperties>
</file>